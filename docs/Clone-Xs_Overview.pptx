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Roboto Light"/>
                <a:ea typeface="Roboto Light"/>
              </a:rPr>
              <a:t>Clone-Xs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DC143C"/>
                </a:solidFill>
                <a:latin typeface="Roboto Light"/>
                <a:ea typeface="Roboto Light"/>
              </a:rPr>
              <a:t>Enterprise Unity Catalog Cloning for Databricks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937760" y="3474720"/>
            <a:ext cx="2286000" cy="320040"/>
          </a:xfrm>
          <a:prstGeom prst="round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37760" y="3474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Roboto Light"/>
                <a:ea typeface="Roboto Light"/>
              </a:rPr>
              <a:t>Open Source — MIT License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899AA"/>
                </a:solidFill>
                <a:latin typeface="Roboto Light"/>
                <a:ea typeface="Roboto Light"/>
              </a:rPr>
              <a:t>CLI  •  Web UI  •  REST API  •  Serverless  •  Notebooks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Roboto Light"/>
                <a:ea typeface="Roboto Light"/>
              </a:rPr>
              <a:t>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Roboto Light"/>
                <a:ea typeface="Roboto Light"/>
              </a:rP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3810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Roboto Light"/>
                <a:ea typeface="Roboto Light"/>
              </a:rPr>
              <a:t>Cloning Unity Catalog catalogs today is manual, fragile, and incomplete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5212080" cy="10058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50800" cy="91440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64208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Roboto Light"/>
                <a:ea typeface="Roboto Light"/>
              </a:rPr>
              <a:t>Manual SQL Scripts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9280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  <a:latin typeface="Roboto Light"/>
                <a:ea typeface="Roboto Light"/>
              </a:rPr>
              <a:t>Teams write custom SQL to clone tables one-by-one. No automation, no error handling, no rollback.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554480"/>
            <a:ext cx="5212080" cy="10058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1600200"/>
            <a:ext cx="50800" cy="91440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664208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Roboto Light"/>
                <a:ea typeface="Roboto Light"/>
              </a:rPr>
              <a:t>Missing Metadata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89280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  <a:latin typeface="Roboto Light"/>
                <a:ea typeface="Roboto Light"/>
              </a:rPr>
              <a:t>Permissions, tags, properties, ownership, constraints, and comments are silently dropped.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743200"/>
            <a:ext cx="5212080" cy="10058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788920"/>
            <a:ext cx="50800" cy="91440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852928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Roboto Light"/>
                <a:ea typeface="Roboto Light"/>
              </a:rPr>
              <a:t>No 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08152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  <a:latin typeface="Roboto Light"/>
                <a:ea typeface="Roboto Light"/>
              </a:rPr>
              <a:t>No way to verify clone accuracy — row counts, checksums, and schema parity are unchecked.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2743200"/>
            <a:ext cx="5212080" cy="10058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2788920"/>
            <a:ext cx="50800" cy="91440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2852928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Roboto Light"/>
                <a:ea typeface="Roboto Light"/>
              </a:rPr>
              <a:t>No Audit Trail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08152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  <a:latin typeface="Roboto Light"/>
                <a:ea typeface="Roboto Light"/>
              </a:rPr>
              <a:t>Nobody knows who cloned what, when, or whether it succeeded. Compliance gaps everywhere.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120640"/>
            <a:ext cx="10881360" cy="640080"/>
          </a:xfrm>
          <a:prstGeom prst="round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21208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Roboto Light"/>
                <a:ea typeface="Roboto Light"/>
              </a:rPr>
              <a:t>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44068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Roboto Light"/>
                <a:ea typeface="Roboto Light"/>
              </a:rPr>
              <a:t>Cloning a single catalog takes hours, fails silently, and leaves teams without confidence in their data.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Roboto Light"/>
                <a:ea typeface="Roboto Light"/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Roboto Light"/>
                <a:ea typeface="Roboto Light"/>
              </a:rPr>
              <a:t>The Solution: Clone-Xs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3810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Roboto Light"/>
                <a:ea typeface="Roboto Light"/>
              </a:rPr>
              <a:t>Enterprise-grade cloning toolkit — clone, compare, sync, and manage Unity Catalog catalogs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2514600" cy="914400"/>
          </a:xfrm>
          <a:prstGeom prst="round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Roboto Light"/>
                <a:ea typeface="Roboto Light"/>
              </a:rPr>
              <a:t>56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Roboto Light"/>
                <a:ea typeface="Roboto Light"/>
              </a:rPr>
              <a:t>CLI Commands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554480"/>
            <a:ext cx="2514600" cy="91440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37560" y="169164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Roboto Light"/>
                <a:ea typeface="Roboto Light"/>
              </a:rPr>
              <a:t>88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2148840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Roboto Light"/>
                <a:ea typeface="Roboto Light"/>
              </a:rPr>
              <a:t>Python Modules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554480"/>
            <a:ext cx="2514600" cy="91440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169164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Roboto Light"/>
                <a:ea typeface="Roboto Light"/>
              </a:rPr>
              <a:t>31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2148840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Roboto Light"/>
                <a:ea typeface="Roboto Light"/>
              </a:rPr>
              <a:t>Web UI Pages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32520" y="1554480"/>
            <a:ext cx="2514600" cy="9144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32520" y="169164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Roboto Light"/>
                <a:ea typeface="Roboto Light"/>
              </a:rPr>
              <a:t>61+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2148840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Roboto Light"/>
                <a:ea typeface="Roboto Light"/>
              </a:rPr>
              <a:t>API Endpoints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743200"/>
            <a:ext cx="342900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2788920"/>
            <a:ext cx="50800" cy="109728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68680" y="2852928"/>
            <a:ext cx="731520" cy="201168"/>
          </a:xfrm>
          <a:prstGeom prst="round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284022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Roboto Light"/>
                <a:ea typeface="Roboto Light"/>
              </a:rPr>
              <a:t>CLI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108960"/>
            <a:ext cx="3063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Roboto Light"/>
                <a:ea typeface="Roboto Light"/>
              </a:rPr>
              <a:t>Command 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3337560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  <a:latin typeface="Roboto Light"/>
                <a:ea typeface="Roboto Light"/>
              </a:rPr>
              <a:t>56 commands for cloning, diffing, syncing, rollback, validation, profiling, and more.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51960" y="2743200"/>
            <a:ext cx="342900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51960" y="2788920"/>
            <a:ext cx="50800" cy="109728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480560" y="2852928"/>
            <a:ext cx="731520" cy="201168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0560" y="284022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Roboto Light"/>
                <a:ea typeface="Roboto Light"/>
              </a:rPr>
              <a:t>WEB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3108960"/>
            <a:ext cx="3063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Roboto Light"/>
                <a:ea typeface="Roboto Light"/>
              </a:rPr>
              <a:t>Web Dashboard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3337560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  <a:latin typeface="Roboto Light"/>
                <a:ea typeface="Roboto Light"/>
              </a:rPr>
              <a:t>31-page React UI with dark mode, dynamic dropdowns, real-time logs, and guided wizards.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63840" y="2743200"/>
            <a:ext cx="342900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863840" y="2788920"/>
            <a:ext cx="50800" cy="109728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092440" y="2852928"/>
            <a:ext cx="731520" cy="201168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92440" y="284022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Roboto Light"/>
                <a:ea typeface="Roboto Light"/>
              </a:rPr>
              <a:t>API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92440" y="3108960"/>
            <a:ext cx="3063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Roboto Light"/>
                <a:ea typeface="Roboto Light"/>
              </a:rPr>
              <a:t>REST API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92440" y="3337560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  <a:latin typeface="Roboto Light"/>
                <a:ea typeface="Roboto Light"/>
              </a:rPr>
              <a:t>61+ FastAPI endpoints for automation, CI/CD integration, and programmatic control.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Roboto Light"/>
                <a:ea typeface="Roboto Light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Roboto Light"/>
                <a:ea typeface="Roboto Light"/>
              </a:rPr>
              <a:t>Key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3810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Roboto Light"/>
                <a:ea typeface="Roboto Light"/>
              </a:rPr>
              <a:t>Everything you need to clone, manage, and govern Unity Catalog at scale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5212080" cy="9144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50800" cy="82296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1664208"/>
            <a:ext cx="731520" cy="201168"/>
          </a:xfrm>
          <a:prstGeom prst="round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5150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Roboto Light"/>
                <a:ea typeface="Roboto Light"/>
              </a:rPr>
              <a:t>CLONE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2024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Roboto Light"/>
                <a:ea typeface="Roboto Light"/>
              </a:rPr>
              <a:t>Deep &amp; Shallow Clone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488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  <a:latin typeface="Roboto Light"/>
                <a:ea typeface="Roboto Light"/>
              </a:rPr>
              <a:t>Full data copy or metadata-only. Incremental sync and time-travel support.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554480"/>
            <a:ext cx="5212080" cy="9144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600200"/>
            <a:ext cx="50800" cy="82296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55080" y="1664208"/>
            <a:ext cx="731520" cy="201168"/>
          </a:xfrm>
          <a:prstGeom prst="round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65150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Roboto Light"/>
                <a:ea typeface="Roboto Light"/>
              </a:rPr>
              <a:t>METADATA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92024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Roboto Light"/>
                <a:ea typeface="Roboto Light"/>
              </a:rPr>
              <a:t>Full Metadata Copy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1488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  <a:latin typeface="Roboto Light"/>
                <a:ea typeface="Roboto Light"/>
              </a:rPr>
              <a:t>Permissions, ownership, tags, properties, security policies, constraints, comments.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651760"/>
            <a:ext cx="5212080" cy="9144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2697480"/>
            <a:ext cx="50800" cy="82296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68680" y="2761488"/>
            <a:ext cx="731520" cy="201168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274878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Roboto Light"/>
                <a:ea typeface="Roboto Light"/>
              </a:rPr>
              <a:t>VALIDATE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01752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Roboto Light"/>
                <a:ea typeface="Roboto Light"/>
              </a:rPr>
              <a:t>Post-Clone Validation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32461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  <a:latin typeface="Roboto Light"/>
                <a:ea typeface="Roboto Light"/>
              </a:rPr>
              <a:t>Row count + checksum verification with automatic rollback on mismatch.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2651760"/>
            <a:ext cx="5212080" cy="9144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26480" y="2697480"/>
            <a:ext cx="50800" cy="82296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55080" y="2761488"/>
            <a:ext cx="731520" cy="201168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274878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Roboto Light"/>
                <a:ea typeface="Roboto Light"/>
              </a:rPr>
              <a:t>SERVERLESS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301752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Roboto Light"/>
                <a:ea typeface="Roboto Light"/>
              </a:rPr>
              <a:t>Serverless Compute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2461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  <a:latin typeface="Roboto Light"/>
                <a:ea typeface="Roboto Light"/>
              </a:rPr>
              <a:t>Run clones without a SQL warehouse — uploads wheel, submits notebook job automatically.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3749040"/>
            <a:ext cx="5212080" cy="9144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" y="3794760"/>
            <a:ext cx="50800" cy="82296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68680" y="3858768"/>
            <a:ext cx="731520" cy="201168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384606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Roboto Light"/>
                <a:ea typeface="Roboto Light"/>
              </a:rPr>
              <a:t>AUDIT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411480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Roboto Light"/>
                <a:ea typeface="Roboto Light"/>
              </a:rPr>
              <a:t>Run Logs to Delta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43434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  <a:latin typeface="Roboto Light"/>
                <a:ea typeface="Roboto Light"/>
              </a:rPr>
              <a:t>Every operation persists logs, metrics, and audit trail to Unity Catalog Delta tables.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26480" y="3749040"/>
            <a:ext cx="5212080" cy="9144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26480" y="3794760"/>
            <a:ext cx="50800" cy="82296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355080" y="3858768"/>
            <a:ext cx="731520" cy="201168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55080" y="384606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Roboto Light"/>
                <a:ea typeface="Roboto Light"/>
              </a:rPr>
              <a:t>SYNC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411480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Roboto Light"/>
                <a:ea typeface="Roboto Light"/>
              </a:rPr>
              <a:t>Incremental Sync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080" y="43434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  <a:latin typeface="Roboto Light"/>
                <a:ea typeface="Roboto Light"/>
              </a:rPr>
              <a:t>Sync only changed tables using Delta version history — no full re-clone needed.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Roboto Light"/>
                <a:ea typeface="Roboto Light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Roboto Light"/>
                <a:ea typeface="Roboto Light"/>
              </a:rPr>
              <a:t>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3810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Roboto Light"/>
                <a:ea typeface="Roboto Light"/>
              </a:rPr>
              <a:t>Three-tier design with shared Python core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2377440" cy="146304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Roboto Light"/>
                <a:ea typeface="Roboto Light"/>
              </a:rPr>
              <a:t>React 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Roboto Light"/>
                <a:ea typeface="Roboto Light"/>
              </a:rPr>
              <a:t>31 pages
Vite + TanStack Query
Tailwind CSS 4
shadcn/ui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2011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DC143C"/>
                </a:solidFill>
                <a:latin typeface="Roboto Light"/>
                <a:ea typeface="Roboto Light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554480"/>
            <a:ext cx="2377440" cy="1463040"/>
          </a:xfrm>
          <a:prstGeom prst="round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6459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Roboto Light"/>
                <a:ea typeface="Roboto Light"/>
              </a:rPr>
              <a:t>FastAPI 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96596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Roboto Light"/>
                <a:ea typeface="Roboto Light"/>
              </a:rPr>
              <a:t>61+ endpoints
Job queue + WebSockets
Real-time log streaming
Pydantic v2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2011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DC143C"/>
                </a:solidFill>
                <a:latin typeface="Roboto Light"/>
                <a:ea typeface="Roboto Light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554480"/>
            <a:ext cx="2377440" cy="146304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6459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Roboto Light"/>
                <a:ea typeface="Roboto Light"/>
              </a:rPr>
              <a:t>Python 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96596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Roboto Light"/>
                <a:ea typeface="Roboto Light"/>
              </a:rPr>
              <a:t>88 modules
Databricks SDK
Unity Catalog APIs
Delta Lake ops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011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DC143C"/>
                </a:solidFill>
                <a:latin typeface="Roboto Light"/>
                <a:ea typeface="Roboto Light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69680" y="1554480"/>
            <a:ext cx="2377440" cy="14630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0" y="16459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Roboto Light"/>
                <a:ea typeface="Roboto Light"/>
              </a:rPr>
              <a:t>Databricks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196596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44444"/>
                </a:solidFill>
                <a:latin typeface="Roboto Light"/>
                <a:ea typeface="Roboto Light"/>
              </a:rPr>
              <a:t>Unity Catalog
SQL Warehouses
Serverless Compute
Delta Tables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291840"/>
            <a:ext cx="34747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3832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Roboto Light"/>
                <a:ea typeface="Roboto Light"/>
              </a:rPr>
              <a:t>CLI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6576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  <a:latin typeface="Roboto Light"/>
                <a:ea typeface="Roboto Light"/>
              </a:rPr>
              <a:t>• Python Click framework
• 56 commands, YAML config
• Same core as API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19" y="3291840"/>
            <a:ext cx="34747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79" y="33832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Roboto Light"/>
                <a:ea typeface="Roboto Light"/>
              </a:rPr>
              <a:t>Job Queue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79" y="36576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  <a:latin typeface="Roboto Light"/>
                <a:ea typeface="Roboto Light"/>
              </a:rPr>
              <a:t>• Async job execution
• WebSocket progress
• Concurrent schema processing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58" y="3291840"/>
            <a:ext cx="34747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5318" y="33832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Roboto Light"/>
                <a:ea typeface="Roboto Light"/>
              </a:rPr>
              <a:t>Audit Pipeline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18" y="36576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  <a:latin typeface="Roboto Light"/>
                <a:ea typeface="Roboto Light"/>
              </a:rPr>
              <a:t>• Auto-create Delta tables
• Every operation logged
• Queryable via SQL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Roboto Light"/>
                <a:ea typeface="Roboto Light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Roboto Light"/>
                <a:ea typeface="Roboto Light"/>
              </a:rPr>
              <a:t>Web UI — 31 Pages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3810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Roboto Light"/>
                <a:ea typeface="Roboto Light"/>
              </a:rPr>
              <a:t>Modern React dashboard with dark mode, real-time logs, and guided wizards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554480"/>
          <a:ext cx="1088136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7772400"/>
                <a:gridCol w="1280160"/>
              </a:tblGrid>
              <a:tr h="320039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Roboto Light"/>
                          <a:ea typeface="Roboto Light"/>
                        </a:rPr>
                        <a:t>Category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Roboto Light"/>
                          <a:ea typeface="Roboto Light"/>
                        </a:rPr>
                        <a:t>Pages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Roboto Light"/>
                          <a:ea typeface="Roboto Light"/>
                        </a:rPr>
                        <a:t>Count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11111"/>
                          </a:solidFill>
                          <a:latin typeface="Roboto Light"/>
                          <a:ea typeface="Roboto Light"/>
                        </a:rPr>
                        <a:t>Overview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Roboto Light"/>
                          <a:ea typeface="Roboto Light"/>
                        </a:rPr>
                        <a:t>Dashboard, Audit Trail, Metrics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Roboto Light"/>
                          <a:ea typeface="Roboto Light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11111"/>
                          </a:solidFill>
                          <a:latin typeface="Roboto Light"/>
                          <a:ea typeface="Roboto Light"/>
                        </a:rPr>
                        <a:t>Operations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Roboto Light"/>
                          <a:ea typeface="Roboto Light"/>
                        </a:rPr>
                        <a:t>Clone, Sync, Incremental Sync, Generate, Rollback, Templates, Schedule, Multi-Clone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Roboto Light"/>
                          <a:ea typeface="Roboto Light"/>
                        </a:rPr>
                        <a:t>8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11111"/>
                          </a:solidFill>
                          <a:latin typeface="Roboto Light"/>
                          <a:ea typeface="Roboto Light"/>
                        </a:rPr>
                        <a:t>Discovery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Roboto Light"/>
                          <a:ea typeface="Roboto Light"/>
                        </a:rPr>
                        <a:t>Explorer, Diff &amp; Compare, Config Diff, Lineage, Dependencies, Impact Analysis, Data Preview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Roboto Light"/>
                          <a:ea typeface="Roboto Light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11111"/>
                          </a:solidFill>
                          <a:latin typeface="Roboto Light"/>
                          <a:ea typeface="Roboto Light"/>
                        </a:rPr>
                        <a:t>Analysis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Roboto Light"/>
                          <a:ea typeface="Roboto Light"/>
                        </a:rPr>
                        <a:t>Reports, PII Scanner, Schema Drift, Profiling, Cost Estimator, Compliance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Roboto Light"/>
                          <a:ea typeface="Roboto Light"/>
                        </a:rPr>
                        <a:t>6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11111"/>
                          </a:solidFill>
                          <a:latin typeface="Roboto Light"/>
                          <a:ea typeface="Roboto Light"/>
                        </a:rPr>
                        <a:t>Management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Roboto Light"/>
                          <a:ea typeface="Roboto Light"/>
                        </a:rPr>
                        <a:t>Monitor, Preflight, Config, Settings, Warehouse, RBAC, Plugins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Roboto Light"/>
                          <a:ea typeface="Roboto Light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4754880"/>
            <a:ext cx="3474720" cy="822960"/>
          </a:xfrm>
          <a:prstGeom prst="round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89204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Roboto Light"/>
                <a:ea typeface="Roboto Light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25780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Roboto Light"/>
                <a:ea typeface="Roboto Light"/>
              </a:rPr>
              <a:t>Dynamic Dropdown Pages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19" y="4754880"/>
            <a:ext cx="3474720" cy="82296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19" y="489204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Roboto Light"/>
                <a:ea typeface="Roboto Light"/>
              </a:rP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19" y="525780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Roboto Light"/>
                <a:ea typeface="Roboto Light"/>
              </a:rPr>
              <a:t>Clone Templates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58" y="4754880"/>
            <a:ext cx="3474720" cy="82296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58" y="489204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Roboto Light"/>
                <a:ea typeface="Roboto Light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58" y="525780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Roboto Light"/>
                <a:ea typeface="Roboto Light"/>
              </a:rPr>
              <a:t>Clone Wizard Steps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Roboto Light"/>
                <a:ea typeface="Roboto Light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Roboto Light"/>
                <a:ea typeface="Roboto Light"/>
              </a:rPr>
              <a:t>Clone Wizard — 4-Step Guided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3810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Roboto Light"/>
                <a:ea typeface="Roboto Light"/>
              </a:rPr>
              <a:t>Source → Options → Preview → Execute — with real-time progress and logs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2560320" cy="338328"/>
          </a:xfrm>
          <a:prstGeom prst="round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819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Roboto Light"/>
                <a:ea typeface="Roboto Light"/>
              </a:rPr>
              <a:t>1. SOURCE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56232"/>
            <a:ext cx="2560320" cy="1344168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47672"/>
            <a:ext cx="2286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  <a:latin typeface="Roboto Light"/>
                <a:ea typeface="Roboto Light"/>
              </a:rPr>
              <a:t>• Select source catalog
• Select destination catalog
• Filter by schema/table
• Include/exclude patterns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554480"/>
            <a:ext cx="2560320" cy="338328"/>
          </a:xfrm>
          <a:prstGeom prst="round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5819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Roboto Light"/>
                <a:ea typeface="Roboto Light"/>
              </a:rPr>
              <a:t>2. OPTIONS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856232"/>
            <a:ext cx="2560320" cy="1344168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947672"/>
            <a:ext cx="2286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  <a:latin typeface="Roboto Light"/>
                <a:ea typeface="Roboto Light"/>
              </a:rPr>
              <a:t>• Deep vs Shallow clone
• Copy permissions, tags
• Enable validation
• Serverless toggle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554480"/>
            <a:ext cx="2560320" cy="338328"/>
          </a:xfrm>
          <a:prstGeom prst="round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5819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Roboto Light"/>
                <a:ea typeface="Roboto Light"/>
              </a:rPr>
              <a:t>3. PREVIEW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856232"/>
            <a:ext cx="2560320" cy="1344168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947672"/>
            <a:ext cx="2286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  <a:latin typeface="Roboto Light"/>
                <a:ea typeface="Roboto Light"/>
              </a:rPr>
              <a:t>• Review all settings
• See object counts
• Dry-run mode
• Preflight checks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69680" y="1554480"/>
            <a:ext cx="2560320" cy="338328"/>
          </a:xfrm>
          <a:prstGeom prst="round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06840" y="15819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Roboto Light"/>
                <a:ea typeface="Roboto Light"/>
              </a:rPr>
              <a:t>4. EXECUTE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69680" y="1856232"/>
            <a:ext cx="2560320" cy="1344168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6840" y="1947672"/>
            <a:ext cx="2286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  <a:latin typeface="Roboto Light"/>
                <a:ea typeface="Roboto Light"/>
              </a:rPr>
              <a:t>• Real-time log stream
• Progress bar per schema
• Live status badges
• Databricks job link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74720"/>
            <a:ext cx="5212080" cy="10972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3520440"/>
            <a:ext cx="50800" cy="100584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584448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Roboto Light"/>
                <a:ea typeface="Roboto Light"/>
              </a:rPr>
              <a:t>15 Clone Options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3813048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  <a:latin typeface="Roboto Light"/>
                <a:ea typeface="Roboto Light"/>
              </a:rPr>
              <a:t>Permissions, ownership, tags, properties, security, constraints, comments, validation, checksum, rollback, report, checkpoint, force re-clone, verbose, serverless.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474720"/>
            <a:ext cx="5303520" cy="10972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3520440"/>
            <a:ext cx="50800" cy="100584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3584448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Roboto Light"/>
                <a:ea typeface="Roboto Light"/>
              </a:rPr>
              <a:t>12 Built-in Templates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3813048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  <a:latin typeface="Roboto Light"/>
                <a:ea typeface="Roboto Light"/>
              </a:rPr>
              <a:t>Production Mirror, Dev Sandbox, DR Copy, Staging Refresh, Compliance Clone, Data Lake Copy, Schema-Only, Table Subset, Cross-Region, Audit Clone, Performance Test, Migration.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Roboto Light"/>
                <a:ea typeface="Roboto Light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Roboto Light"/>
                <a:ea typeface="Roboto Light"/>
              </a:rPr>
              <a:t>Serverless Compute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3810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Roboto Light"/>
                <a:ea typeface="Roboto Light"/>
              </a:rPr>
              <a:t>Run clones on Databricks serverless — no SQL warehouse needed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Roboto Light"/>
                <a:ea typeface="Roboto Light"/>
              </a:rPr>
              <a:t>HOW IT WORKS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212080" cy="8229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74520"/>
            <a:ext cx="50800" cy="73152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38528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Roboto Light"/>
                <a:ea typeface="Roboto Light"/>
              </a:rPr>
              <a:t>1. Package &amp; Upload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6712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  <a:latin typeface="Roboto Light"/>
                <a:ea typeface="Roboto Light"/>
              </a:rPr>
              <a:t>Builds Python wheel, uploads to UC Volume.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834640"/>
            <a:ext cx="5212080" cy="8229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880360"/>
            <a:ext cx="50800" cy="73152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44368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Roboto Light"/>
                <a:ea typeface="Roboto Light"/>
              </a:rPr>
              <a:t>2. Generate Notebook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17296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  <a:latin typeface="Roboto Light"/>
                <a:ea typeface="Roboto Light"/>
              </a:rPr>
              <a:t>Creates runner notebook with all clone options.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840480"/>
            <a:ext cx="5212080" cy="8229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886200"/>
            <a:ext cx="50800" cy="73152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950208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Roboto Light"/>
                <a:ea typeface="Roboto Light"/>
              </a:rPr>
              <a:t>3. Submit Job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17880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  <a:latin typeface="Roboto Light"/>
                <a:ea typeface="Roboto Light"/>
              </a:rPr>
              <a:t>Submits one-time serverless job. No cluster provisioning.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846320"/>
            <a:ext cx="5212080" cy="8229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892040"/>
            <a:ext cx="50800" cy="73152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956048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Roboto Light"/>
                <a:ea typeface="Roboto Light"/>
              </a:rPr>
              <a:t>4. Stream Results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18464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  <a:latin typeface="Roboto Light"/>
                <a:ea typeface="Roboto Light"/>
              </a:rPr>
              <a:t>Polls job status, streams output to UI in real-time.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1508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Roboto Light"/>
                <a:ea typeface="Roboto Light"/>
              </a:rPr>
              <a:t>BENEFITS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1828800"/>
            <a:ext cx="5303520" cy="731520"/>
          </a:xfrm>
          <a:prstGeom prst="round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19659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Roboto Light"/>
                <a:ea typeface="Roboto Light"/>
              </a:rPr>
              <a:t>$0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224028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Roboto Light"/>
                <a:ea typeface="Roboto Light"/>
              </a:rPr>
              <a:t>No Warehouse Costs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2697480"/>
            <a:ext cx="5303520" cy="73152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28346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Roboto Light"/>
                <a:ea typeface="Roboto Light"/>
              </a:rPr>
              <a:t>Auto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310896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Roboto Light"/>
                <a:ea typeface="Roboto Light"/>
              </a:rPr>
              <a:t>Scales Automatically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3566160"/>
            <a:ext cx="5303520" cy="73152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37033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Roboto Light"/>
                <a:ea typeface="Roboto Light"/>
              </a:rPr>
              <a:t>Fast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397764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Roboto Light"/>
                <a:ea typeface="Roboto Light"/>
              </a:rPr>
              <a:t>No Cluster Start Wait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4480560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457200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Roboto Light"/>
                <a:ea typeface="Roboto Light"/>
              </a:rPr>
              <a:t>CLI Usage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4846320"/>
            <a:ext cx="4937760" cy="6858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4892040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7AE60"/>
                </a:solidFill>
                <a:latin typeface="Roboto Light"/>
                <a:ea typeface="Roboto Light"/>
              </a:rPr>
              <a:t>clone-catalog clone
  --source edp_dev
  --dest edp_dev_00
  --serverless
  --volume /Volumes/cat/schema/vol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Roboto Light"/>
                <a:ea typeface="Roboto Light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Roboto Light"/>
                <a:ea typeface="Roboto Light"/>
              </a:rPr>
              <a:t>Audit Trail &amp; Run Logs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3810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Roboto Light"/>
                <a:ea typeface="Roboto Light"/>
              </a:rPr>
              <a:t>Every operation auto-persists to Unity Catalog Delta tables — queryable via SQL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3429000" cy="338328"/>
          </a:xfrm>
          <a:prstGeom prst="round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81912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Roboto Light"/>
                <a:ea typeface="Roboto Light"/>
              </a:rPr>
              <a:t>logs.run_logs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56232"/>
            <a:ext cx="3429000" cy="2258568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47672"/>
            <a:ext cx="31546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  <a:latin typeface="Roboto Light"/>
                <a:ea typeface="Roboto Light"/>
              </a:rPr>
              <a:t>• Full execution trace
• Job ID, type, status
• Source → destination
• All log lines as ARRAY
• Result JSON
• Config (sanitized)
• Duration, timestamps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554480"/>
            <a:ext cx="3429000" cy="338328"/>
          </a:xfrm>
          <a:prstGeom prst="round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581912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Roboto Light"/>
                <a:ea typeface="Roboto Light"/>
              </a:rPr>
              <a:t>logs.clone_operations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856232"/>
            <a:ext cx="3429000" cy="2258568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947672"/>
            <a:ext cx="31546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  <a:latin typeface="Roboto Light"/>
                <a:ea typeface="Roboto Light"/>
              </a:rPr>
              <a:t>• Compliance audit trail
• Operation ID &amp; type
• Who cloned what, when
• Tables/views/functions/volumes
• Success vs failure counts
• Summary JSON
• Error messages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1554480"/>
            <a:ext cx="3429000" cy="338328"/>
          </a:xfrm>
          <a:prstGeom prst="round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1000" y="1581912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Roboto Light"/>
                <a:ea typeface="Roboto Light"/>
              </a:rPr>
              <a:t>metrics.clone_metrics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1856232"/>
            <a:ext cx="3429000" cy="2258568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1000" y="1947672"/>
            <a:ext cx="31546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  <a:latin typeface="Roboto Light"/>
                <a:ea typeface="Roboto Light"/>
              </a:rPr>
              <a:t>• Performance metrics
• Throughput rates
• Success/failure rates
• Per-table timing
• Schema-level aggregates
• Trend analysis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389120"/>
            <a:ext cx="10881360" cy="640080"/>
          </a:xfrm>
          <a:prstGeom prst="round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48056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Roboto Light"/>
                <a:ea typeface="Roboto Light"/>
              </a:rPr>
              <a:t>Operations Logged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70916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Roboto Light"/>
                <a:ea typeface="Roboto Light"/>
              </a:rPr>
              <a:t>Clone, Sync, Incremental Sync, Validate, PII Scan, Preflight, Schema Evolve, Diff, Rollback, Terraform Generate — all write to Delta automatically.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Roboto Light"/>
                <a:ea typeface="Roboto Light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Roboto Light"/>
                <a:ea typeface="Roboto Light"/>
              </a:rPr>
              <a:t>Incremental Sync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3810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Roboto Light"/>
                <a:ea typeface="Roboto Light"/>
              </a:rPr>
              <a:t>Sync only changed tables using Delta version history — no full re-clone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Roboto Light"/>
                <a:ea typeface="Roboto Light"/>
              </a:rPr>
              <a:t>HOW IT WORKS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212080" cy="20116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  <a:latin typeface="Roboto Light"/>
                <a:ea typeface="Roboto Light"/>
              </a:rPr>
              <a:t>→ Compares Delta table versions between source and dest
→ Identifies tables with new commits since last sync
→ Syncs only changed tables — skips up-to-date ones
→ Supports schema-level and table-level selection
→ Parallel processing across schemas
→ Runs on serverless or SQL warehouse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023360"/>
            <a:ext cx="5212080" cy="14630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11480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Roboto Light"/>
                <a:ea typeface="Roboto Light"/>
              </a:rPr>
              <a:t>Selection Modes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38912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  <a:latin typeface="Roboto Light"/>
                <a:ea typeface="Roboto Light"/>
              </a:rPr>
              <a:t>→ All schemas — scan entire catalog
→ Selected schemas — pick specific schemas
→ Selected tables — per-table checkboxes
→ Select all / Clear — bulk operations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508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Roboto Light"/>
                <a:ea typeface="Roboto Light"/>
              </a:rPr>
              <a:t>UI FEATURES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28800"/>
            <a:ext cx="5303520" cy="640080"/>
          </a:xfrm>
          <a:prstGeom prst="round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9659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Roboto Light"/>
                <a:ea typeface="Roboto Light"/>
              </a:rPr>
              <a:t>Live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14884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Roboto Light"/>
                <a:ea typeface="Roboto Light"/>
              </a:rPr>
              <a:t>Schema Results Stream 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651760"/>
            <a:ext cx="5303520" cy="12801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74320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Roboto Light"/>
                <a:ea typeface="Roboto Light"/>
              </a:rPr>
              <a:t>Per-Schema Status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01752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  <a:latin typeface="Roboto Light"/>
                <a:ea typeface="Roboto Light"/>
              </a:rPr>
              <a:t>→ Up to date — green badge
→ N changed — amber badge with count
→ Expandable table list with checkboxes
→ Version history per table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114800"/>
            <a:ext cx="5303520" cy="13716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20624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Roboto Light"/>
                <a:ea typeface="Roboto Light"/>
              </a:rPr>
              <a:t>Sync Execution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48056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  <a:latin typeface="Roboto Light"/>
                <a:ea typeface="Roboto Light"/>
              </a:rPr>
              <a:t>→ Jobs submitted per schema
→ Real-time progress tracking
→ Live logs streaming
→ Databricks job run links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Roboto Light"/>
                <a:ea typeface="Roboto Light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Roboto Light"/>
                <a:ea typeface="Roboto Light"/>
              </a:rPr>
              <a:t>Security &amp; Governance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3810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Roboto Light"/>
                <a:ea typeface="Roboto Light"/>
              </a:rPr>
              <a:t>Enterprise security built in — credentials never stored server-side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5212080" cy="9144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50800" cy="82296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1664208"/>
            <a:ext cx="731520" cy="201168"/>
          </a:xfrm>
          <a:prstGeom prst="round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5150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Roboto Light"/>
                <a:ea typeface="Roboto Light"/>
              </a:rPr>
              <a:t>CREDENTIALS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2024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Roboto Light"/>
                <a:ea typeface="Roboto Light"/>
              </a:rPr>
              <a:t>Browser-Only Storage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488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  <a:latin typeface="Roboto Light"/>
                <a:ea typeface="Roboto Light"/>
              </a:rPr>
              <a:t>Databricks tokens stored in browser session only. Passed via headers — never persisted on server.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554480"/>
            <a:ext cx="5212080" cy="9144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600200"/>
            <a:ext cx="50800" cy="82296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55080" y="1664208"/>
            <a:ext cx="731520" cy="201168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65150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Roboto Light"/>
                <a:ea typeface="Roboto Light"/>
              </a:rPr>
              <a:t>AUDIT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92024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Roboto Light"/>
                <a:ea typeface="Roboto Light"/>
              </a:rPr>
              <a:t>Sanitized Logging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1488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  <a:latin typeface="Roboto Light"/>
                <a:ea typeface="Roboto Light"/>
              </a:rPr>
              <a:t>All tokens and secrets stripped from config before writing to audit Delta tables.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651760"/>
            <a:ext cx="5212080" cy="9144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2697480"/>
            <a:ext cx="50800" cy="82296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68680" y="2761488"/>
            <a:ext cx="731520" cy="201168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274878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Roboto Light"/>
                <a:ea typeface="Roboto Light"/>
              </a:rPr>
              <a:t>RBAC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01752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Roboto Light"/>
                <a:ea typeface="Roboto Light"/>
              </a:rPr>
              <a:t>Role-Based Access 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32461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  <a:latin typeface="Roboto Light"/>
                <a:ea typeface="Roboto Light"/>
              </a:rPr>
              <a:t>Define policies for who can clone which catalogs. Enforceable at API and UI level.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2651760"/>
            <a:ext cx="5212080" cy="9144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26480" y="2697480"/>
            <a:ext cx="50800" cy="82296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55080" y="2761488"/>
            <a:ext cx="731520" cy="201168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274878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Roboto Light"/>
                <a:ea typeface="Roboto Light"/>
              </a:rPr>
              <a:t>PII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301752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Roboto Light"/>
                <a:ea typeface="Roboto Light"/>
              </a:rPr>
              <a:t>PII Scanner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2461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  <a:latin typeface="Roboto Light"/>
                <a:ea typeface="Roboto Light"/>
              </a:rPr>
              <a:t>Scan catalogs for PII patterns (email, phone, SSN) before cloning to prevent data exposure.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3931920"/>
            <a:ext cx="5212080" cy="12801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402336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Roboto Light"/>
                <a:ea typeface="Roboto Light"/>
              </a:rPr>
              <a:t>Compliance Features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429768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  <a:latin typeface="Roboto Light"/>
                <a:ea typeface="Roboto Light"/>
              </a:rPr>
              <a:t>→ Full audit trail with Delta time travel
→ Who cloned what, when, with what config
→ Immutable operation logs
→ Compliance dashboard in UI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3931920"/>
            <a:ext cx="5303520" cy="12801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402336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Roboto Light"/>
                <a:ea typeface="Roboto Light"/>
              </a:rPr>
              <a:t>Safety Features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29768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  <a:latin typeface="Roboto Light"/>
                <a:ea typeface="Roboto Light"/>
              </a:rPr>
              <a:t>→ Preflight checks before clone
→ Dry-run mode for all operations
→ Auto-rollback on validation failure
→ Checkpoint &amp; restore support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Roboto Light"/>
                <a:ea typeface="Roboto Light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Roboto Light"/>
                <a:ea typeface="Roboto Light"/>
              </a:rPr>
              <a:t>Tech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3810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Roboto Light"/>
                <a:ea typeface="Roboto Light"/>
              </a:rPr>
              <a:t>Modern, production-ready stack with first-class Databricks integration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554480"/>
          <a:ext cx="108813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743200"/>
                <a:gridCol w="6309360"/>
              </a:tblGrid>
              <a:tr h="3200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Roboto Light"/>
                          <a:ea typeface="Roboto Light"/>
                        </a:rPr>
                        <a:t>Layer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Roboto Light"/>
                          <a:ea typeface="Roboto Light"/>
                        </a:rPr>
                        <a:t>Technology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Roboto Light"/>
                          <a:ea typeface="Roboto Light"/>
                        </a:rPr>
                        <a:t>Details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11111"/>
                          </a:solidFill>
                          <a:latin typeface="Roboto Light"/>
                          <a:ea typeface="Roboto Light"/>
                        </a:rPr>
                        <a:t>Frontend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Roboto Light"/>
                          <a:ea typeface="Roboto Light"/>
                        </a:rPr>
                        <a:t>React 19 + TypeScript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Roboto Light"/>
                          <a:ea typeface="Roboto Light"/>
                        </a:rPr>
                        <a:t>Vite build, TanStack Query, Tailwind CSS 4, shadcn/ui, Recharts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11111"/>
                          </a:solidFill>
                          <a:latin typeface="Roboto Light"/>
                          <a:ea typeface="Roboto Light"/>
                        </a:rPr>
                        <a:t>Backend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Roboto Light"/>
                          <a:ea typeface="Roboto Light"/>
                        </a:rPr>
                        <a:t>Python + FastAPI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Roboto Light"/>
                          <a:ea typeface="Roboto Light"/>
                        </a:rPr>
                        <a:t>Uvicorn, Pydantic v2, WebSockets, async job queue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11111"/>
                          </a:solidFill>
                          <a:latin typeface="Roboto Light"/>
                          <a:ea typeface="Roboto Light"/>
                        </a:rPr>
                        <a:t>Core Engine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Roboto Light"/>
                          <a:ea typeface="Roboto Light"/>
                        </a:rPr>
                        <a:t>Databricks SDK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Roboto Light"/>
                          <a:ea typeface="Roboto Light"/>
                        </a:rPr>
                        <a:t>Unity Catalog REST APIs, SQL Statement Execution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11111"/>
                          </a:solidFill>
                          <a:latin typeface="Roboto Light"/>
                          <a:ea typeface="Roboto Light"/>
                        </a:rPr>
                        <a:t>CLI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Roboto Light"/>
                          <a:ea typeface="Roboto Light"/>
                        </a:rPr>
                        <a:t>Python Click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Roboto Light"/>
                          <a:ea typeface="Roboto Light"/>
                        </a:rPr>
                        <a:t>56 commands, YAML config profiles, rich output formatting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11111"/>
                          </a:solidFill>
                          <a:latin typeface="Roboto Light"/>
                          <a:ea typeface="Roboto Light"/>
                        </a:rPr>
                        <a:t>Storage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Roboto Light"/>
                          <a:ea typeface="Roboto Light"/>
                        </a:rPr>
                        <a:t>Delta Lake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Roboto Light"/>
                          <a:ea typeface="Roboto Light"/>
                        </a:rPr>
                        <a:t>Audit logs, run history, metrics — all in Unity Catalog tables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11111"/>
                          </a:solidFill>
                          <a:latin typeface="Roboto Light"/>
                          <a:ea typeface="Roboto Light"/>
                        </a:rPr>
                        <a:t>Docs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Roboto Light"/>
                          <a:ea typeface="Roboto Light"/>
                        </a:rPr>
                        <a:t>Docusaurus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Roboto Light"/>
                          <a:ea typeface="Roboto Light"/>
                        </a:rPr>
                        <a:t>Full documentation site with search, versioning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11111"/>
                          </a:solidFill>
                          <a:latin typeface="Roboto Light"/>
                          <a:ea typeface="Roboto Light"/>
                        </a:rPr>
                        <a:t>Deployment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Roboto Light"/>
                          <a:ea typeface="Roboto Light"/>
                        </a:rPr>
                        <a:t>Docker + Wheel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Roboto Light"/>
                          <a:ea typeface="Roboto Light"/>
                        </a:rPr>
                        <a:t>Docker Compose for full stack, wheel for Databricks notebook/serverless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5120640"/>
            <a:ext cx="10881360" cy="6400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16636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Roboto Light"/>
                <a:ea typeface="Roboto Light"/>
              </a:rPr>
              <a:t>Project Stats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44068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Roboto Light"/>
                <a:ea typeface="Roboto Light"/>
              </a:rPr>
              <a:t>88 Python modules  •  31 React pages  •  61+ API endpoints  •  56 CLI commands  •  12 templates  •  Full test suite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Roboto Light"/>
                <a:ea typeface="Roboto Light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Roboto Light"/>
                <a:ea typeface="Roboto Light"/>
              </a:rPr>
              <a:t>Getting Started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3810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Roboto Light"/>
                <a:ea typeface="Roboto Light"/>
              </a:rPr>
              <a:t>Up and running in 3 commands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3429000" cy="320040"/>
          </a:xfrm>
          <a:prstGeom prst="round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81912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Roboto Light"/>
                <a:ea typeface="Roboto Light"/>
              </a:rPr>
              <a:t>OPTION 1: FROM SOURCE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3429000" cy="13716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3154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7AE60"/>
                </a:solidFill>
                <a:latin typeface="Roboto Light"/>
                <a:ea typeface="Roboto Light"/>
              </a:rPr>
              <a:t>git clone github.com/viral0216/clone-xs
cd clone-xs
pip install -e ".[dev]"
make web-start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246120"/>
            <a:ext cx="3429000" cy="32004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246120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E7D32"/>
                </a:solidFill>
                <a:latin typeface="Roboto Light"/>
                <a:ea typeface="Roboto Light"/>
              </a:rPr>
              <a:t>Frontend on :3000 • API on :8000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554480"/>
            <a:ext cx="3429000" cy="320040"/>
          </a:xfrm>
          <a:prstGeom prst="round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581912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Roboto Light"/>
                <a:ea typeface="Roboto Light"/>
              </a:rPr>
              <a:t>OPTION 2: DOCKER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1874519"/>
            <a:ext cx="3429000" cy="13716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920240"/>
            <a:ext cx="3154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7AE60"/>
                </a:solidFill>
                <a:latin typeface="Roboto Light"/>
                <a:ea typeface="Roboto Light"/>
              </a:rPr>
              <a:t>docker-compose up --build
# Open http://localhost:8000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60" y="3246120"/>
            <a:ext cx="3429000" cy="32004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400" y="3246120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E7D32"/>
                </a:solidFill>
                <a:latin typeface="Roboto Light"/>
                <a:ea typeface="Roboto Light"/>
              </a:rPr>
              <a:t>Full stack in one container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3840" y="1554480"/>
            <a:ext cx="3429000" cy="320040"/>
          </a:xfrm>
          <a:prstGeom prst="round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0" y="1581912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Roboto Light"/>
                <a:ea typeface="Roboto Light"/>
              </a:rPr>
              <a:t>OPTION 3: CLI ONLY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63840" y="1874519"/>
            <a:ext cx="3429000" cy="13716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01000" y="1920240"/>
            <a:ext cx="3154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7AE60"/>
                </a:solidFill>
                <a:latin typeface="Roboto Light"/>
                <a:ea typeface="Roboto Light"/>
              </a:rPr>
              <a:t>pip install -e .
clone-catalog clone \
  --source my_catalog \
  --dest my_catalog_clone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63840" y="3246120"/>
            <a:ext cx="3429000" cy="32004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0" y="3246120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E7D32"/>
                </a:solidFill>
                <a:latin typeface="Roboto Light"/>
                <a:ea typeface="Roboto Light"/>
              </a:rPr>
              <a:t>No server needed for CLI usage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931920"/>
            <a:ext cx="1088136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02336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Roboto Light"/>
                <a:ea typeface="Roboto Light"/>
              </a:rPr>
              <a:t>Required Setup After Install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2976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  <a:latin typeface="Roboto Light"/>
                <a:ea typeface="Roboto Light"/>
              </a:rPr>
              <a:t>→ Connect to Databricks — Enter workspace URL + PAT in Settings
→ Select SQL Warehouse — Choose from dropdown (or use serverless)
→ Initialize Audit Tables — Optional: set audit catalog for Delta logging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Roboto Light"/>
                <a:ea typeface="Roboto Light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Roboto Light"/>
                <a:ea typeface="Roboto Light"/>
              </a:rPr>
              <a:t>Clone-Xs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DC143C"/>
                </a:solidFill>
                <a:latin typeface="Roboto Light"/>
                <a:ea typeface="Roboto Light"/>
              </a:rPr>
              <a:t>Enterprise Unity Catalog Cloning — Made Simple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CDDEE"/>
                </a:solidFill>
                <a:latin typeface="Roboto Light"/>
                <a:ea typeface="Roboto Light"/>
              </a:rPr>
              <a:t>56 CLI Commands  •  31 UI Pages  •  61+ API Endpoints  •  88 Python Modules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3840480"/>
            <a:ext cx="2286000" cy="365760"/>
          </a:xfrm>
          <a:prstGeom prst="round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0" y="3840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CDDEE"/>
                </a:solidFill>
                <a:latin typeface="Roboto Light"/>
                <a:ea typeface="Roboto Light"/>
              </a:rPr>
              <a:t>github.com/viral0216/clone-xs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840480"/>
            <a:ext cx="1828800" cy="365760"/>
          </a:xfrm>
          <a:prstGeom prst="round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3840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CDDEE"/>
                </a:solidFill>
                <a:latin typeface="Roboto Light"/>
                <a:ea typeface="Roboto Light"/>
              </a:rPr>
              <a:t>MIT License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4572000"/>
            <a:ext cx="3931920" cy="365760"/>
          </a:xfrm>
          <a:prstGeom prst="round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45720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Roboto Light"/>
                <a:ea typeface="Roboto Light"/>
              </a:rPr>
              <a:t>Open Source — Start Cloning Today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Roboto Light"/>
                <a:ea typeface="Roboto Light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